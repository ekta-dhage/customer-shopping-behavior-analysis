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aleway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into spending patterns, customer segments, product preferences, and discount usage to drive smarter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transactional data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Rich customer and purchase attributes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61520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647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13742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563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6005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9822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Shopping Behavior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9521" y="5563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 Purchases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60056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&amp; Review Rating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9521" y="64478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Type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227" y="560070"/>
            <a:ext cx="5931694" cy="63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Journey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199227" y="1502092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99227" y="1825347"/>
            <a:ext cx="7718346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199227" y="1972866"/>
            <a:ext cx="290881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Import &amp; Inspection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99227" y="2413159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Loaded dataset using pandas, analyzed structure with df.info() and df.describe()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9227" y="3095387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9227" y="3418642"/>
            <a:ext cx="7718346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199227" y="3566160"/>
            <a:ext cx="262092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Data Handling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99227" y="4006453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Review Rating with median by category to maintain consistency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9227" y="4688681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227" y="5011936"/>
            <a:ext cx="7718346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199227" y="5159454"/>
            <a:ext cx="254603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99227" y="5599748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columns to snake_case format for improved readability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227" y="6281976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9227" y="6605230"/>
            <a:ext cx="7718346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227" y="6752749"/>
            <a:ext cx="254603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99227" y="7193042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age_group and purchase_frequency_days for deeper insights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296" y="365522"/>
            <a:ext cx="3374231" cy="41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Statistical Insights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296" y="1046917"/>
            <a:ext cx="13699808" cy="767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296" y="9001125"/>
            <a:ext cx="166187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Age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5296" y="9341763"/>
            <a:ext cx="430363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 18-70 years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65296" y="9674066"/>
            <a:ext cx="430363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Average: 44 years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100876" y="9001125"/>
            <a:ext cx="166187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Ratings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00876" y="9341763"/>
            <a:ext cx="430363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 2.5-5.0 stars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100876" y="9674066"/>
            <a:ext cx="4303633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Average: 3.75 stars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36455" y="9001125"/>
            <a:ext cx="1661874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History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736455" y="9341763"/>
            <a:ext cx="4443770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Range: 1-50 purchases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736455" y="9674066"/>
            <a:ext cx="4443770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Average: 25 purchases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3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53" y="3335417"/>
            <a:ext cx="718518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Analysis by Gender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5453" y="4346972"/>
            <a:ext cx="6440329" cy="1756648"/>
          </a:xfrm>
          <a:prstGeom prst="roundRect">
            <a:avLst>
              <a:gd name="adj" fmla="val 52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1791" y="4573310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Male Customers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1791" y="5046226"/>
            <a:ext cx="598765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$157,890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91791" y="5527357"/>
            <a:ext cx="5987653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higher contribution to overall sales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4499" y="4346972"/>
            <a:ext cx="6440448" cy="1756648"/>
          </a:xfrm>
          <a:prstGeom prst="roundRect">
            <a:avLst>
              <a:gd name="adj" fmla="val 523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50837" y="4573310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Female Customers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650837" y="5046226"/>
            <a:ext cx="5987772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$75,191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50837" y="5527357"/>
            <a:ext cx="5987772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Represents opportunity for targeted marketing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65453" y="6349603"/>
            <a:ext cx="13099494" cy="1279327"/>
          </a:xfrm>
          <a:prstGeom prst="roundRect">
            <a:avLst>
              <a:gd name="adj" fmla="val 7181"/>
            </a:avLst>
          </a:prstGeom>
          <a:solidFill>
            <a:srgbClr val="D2D2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71" y="6675358"/>
            <a:ext cx="273368" cy="2187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76256" y="6622971"/>
            <a:ext cx="1216997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generated more than double the revenue of female customers, indicating a potential growth opportunity in female-focused marketing strategies.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7415" y="400883"/>
            <a:ext cx="3579138" cy="447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Top-Rated Products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987415" y="1277541"/>
            <a:ext cx="8141970" cy="1369457"/>
          </a:xfrm>
          <a:prstGeom prst="roundRect">
            <a:avLst>
              <a:gd name="adj" fmla="val 53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987415" y="1262301"/>
            <a:ext cx="8141970" cy="60960"/>
          </a:xfrm>
          <a:prstGeom prst="roundRect">
            <a:avLst>
              <a:gd name="adj" fmla="val 98638"/>
            </a:avLst>
          </a:prstGeom>
          <a:solidFill>
            <a:srgbClr val="1B1B27"/>
          </a:solidFill>
          <a:ln/>
        </p:spPr>
      </p:sp>
      <p:sp>
        <p:nvSpPr>
          <p:cNvPr id="6" name="Shape 3"/>
          <p:cNvSpPr/>
          <p:nvPr/>
        </p:nvSpPr>
        <p:spPr>
          <a:xfrm>
            <a:off x="9843671" y="1062871"/>
            <a:ext cx="429458" cy="429458"/>
          </a:xfrm>
          <a:prstGeom prst="roundRect">
            <a:avLst>
              <a:gd name="adj" fmla="val 212920"/>
            </a:avLst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9972496" y="1170265"/>
            <a:ext cx="17168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45768" y="1635443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Sandals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45768" y="1944886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3.82 average rating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5768" y="2259687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customer satisfaction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7415" y="3004780"/>
            <a:ext cx="8141970" cy="1369457"/>
          </a:xfrm>
          <a:prstGeom prst="roundRect">
            <a:avLst>
              <a:gd name="adj" fmla="val 53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987415" y="2989540"/>
            <a:ext cx="8141970" cy="60960"/>
          </a:xfrm>
          <a:prstGeom prst="roundRect">
            <a:avLst>
              <a:gd name="adj" fmla="val 98638"/>
            </a:avLst>
          </a:prstGeom>
          <a:solidFill>
            <a:srgbClr val="1B1B27"/>
          </a:solidFill>
          <a:ln/>
        </p:spPr>
      </p:sp>
      <p:sp>
        <p:nvSpPr>
          <p:cNvPr id="13" name="Shape 10"/>
          <p:cNvSpPr/>
          <p:nvPr/>
        </p:nvSpPr>
        <p:spPr>
          <a:xfrm>
            <a:off x="9843671" y="2790111"/>
            <a:ext cx="429458" cy="429458"/>
          </a:xfrm>
          <a:prstGeom prst="roundRect">
            <a:avLst>
              <a:gd name="adj" fmla="val 212920"/>
            </a:avLst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9972496" y="2897505"/>
            <a:ext cx="17168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145768" y="3362682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45768" y="3672126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3.79 average rating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5768" y="3986927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performance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7415" y="4732020"/>
            <a:ext cx="8141970" cy="1369457"/>
          </a:xfrm>
          <a:prstGeom prst="roundRect">
            <a:avLst>
              <a:gd name="adj" fmla="val 53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987415" y="4716780"/>
            <a:ext cx="8141970" cy="60960"/>
          </a:xfrm>
          <a:prstGeom prst="roundRect">
            <a:avLst>
              <a:gd name="adj" fmla="val 98638"/>
            </a:avLst>
          </a:prstGeom>
          <a:solidFill>
            <a:srgbClr val="1B1B27"/>
          </a:solidFill>
          <a:ln/>
        </p:spPr>
      </p:sp>
      <p:sp>
        <p:nvSpPr>
          <p:cNvPr id="20" name="Shape 17"/>
          <p:cNvSpPr/>
          <p:nvPr/>
        </p:nvSpPr>
        <p:spPr>
          <a:xfrm>
            <a:off x="9843671" y="4517350"/>
            <a:ext cx="429458" cy="429458"/>
          </a:xfrm>
          <a:prstGeom prst="roundRect">
            <a:avLst>
              <a:gd name="adj" fmla="val 212920"/>
            </a:avLst>
          </a:prstGeom>
          <a:solidFill>
            <a:srgbClr val="1B1B27"/>
          </a:solidFill>
          <a:ln/>
        </p:spPr>
      </p:sp>
      <p:sp>
        <p:nvSpPr>
          <p:cNvPr id="21" name="Text 18"/>
          <p:cNvSpPr/>
          <p:nvPr/>
        </p:nvSpPr>
        <p:spPr>
          <a:xfrm>
            <a:off x="9972496" y="4624745"/>
            <a:ext cx="17168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145768" y="5089922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Handbag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45768" y="5399365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 average rating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45768" y="5714167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quality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87415" y="6459260"/>
            <a:ext cx="8141970" cy="1369457"/>
          </a:xfrm>
          <a:prstGeom prst="roundRect">
            <a:avLst>
              <a:gd name="adj" fmla="val 53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987415" y="6444020"/>
            <a:ext cx="8141970" cy="60960"/>
          </a:xfrm>
          <a:prstGeom prst="roundRect">
            <a:avLst>
              <a:gd name="adj" fmla="val 98638"/>
            </a:avLst>
          </a:prstGeom>
          <a:solidFill>
            <a:srgbClr val="1B1B27"/>
          </a:solidFill>
          <a:ln/>
        </p:spPr>
      </p:sp>
      <p:sp>
        <p:nvSpPr>
          <p:cNvPr id="27" name="Shape 24"/>
          <p:cNvSpPr/>
          <p:nvPr/>
        </p:nvSpPr>
        <p:spPr>
          <a:xfrm>
            <a:off x="9843671" y="6244590"/>
            <a:ext cx="429458" cy="429458"/>
          </a:xfrm>
          <a:prstGeom prst="roundRect">
            <a:avLst>
              <a:gd name="adj" fmla="val 212920"/>
            </a:avLst>
          </a:prstGeom>
          <a:solidFill>
            <a:srgbClr val="1B1B27"/>
          </a:solidFill>
          <a:ln/>
        </p:spPr>
      </p:sp>
      <p:sp>
        <p:nvSpPr>
          <p:cNvPr id="28" name="Text 25"/>
          <p:cNvSpPr/>
          <p:nvPr/>
        </p:nvSpPr>
        <p:spPr>
          <a:xfrm>
            <a:off x="9972496" y="6351984"/>
            <a:ext cx="171688" cy="21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145768" y="6817162"/>
            <a:ext cx="1789509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 &amp; Gloves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45768" y="7126605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 average rating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45768" y="7441406"/>
            <a:ext cx="7825264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Tied for excellence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608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&amp; Subscription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10614"/>
            <a:ext cx="2842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Type Impact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9175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$60.48 average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15873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$58.46 average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7257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customers spend slightly more per transaction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010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Subscription Status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359175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2,847 customers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52163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$170,436 total revenue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0886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1,053 customers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65558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$62,645 total revenue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47771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contribute higher total revenue due to larger volume, while average spend remains similar at ~$60 across both groups.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5263039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Group Spending Patterns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8" y="1206341"/>
            <a:ext cx="13558123" cy="7592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138" y="8971121"/>
            <a:ext cx="1355812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adults lead in total revenue, while middle-aged customers show higher per-transaction spending. This suggests different engagement strategies for each demographic.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475" y="440055"/>
            <a:ext cx="3996928" cy="49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904053" y="2298383"/>
            <a:ext cx="1966436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4K</a:t>
            </a:r>
            <a:endParaRPr lang="en-US" sz="3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312" y="1299210"/>
            <a:ext cx="2398157" cy="2398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88099" y="3897035"/>
            <a:ext cx="199846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Customers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759672" y="2298383"/>
            <a:ext cx="1966436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$233K</a:t>
            </a:r>
            <a:endParaRPr lang="en-US" sz="3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931" y="1299210"/>
            <a:ext cx="2398157" cy="23981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3718" y="3897035"/>
            <a:ext cx="199846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Revenue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2904053" y="5505569"/>
            <a:ext cx="1966436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$59.76</a:t>
            </a:r>
            <a:endParaRPr lang="en-US" sz="3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12" y="4506397"/>
            <a:ext cx="2398157" cy="23981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88099" y="7104221"/>
            <a:ext cx="199846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Purchase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759672" y="5505569"/>
            <a:ext cx="1966436" cy="399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3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3.75</a:t>
            </a:r>
            <a:endParaRPr lang="en-US" sz="3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931" y="4506397"/>
            <a:ext cx="2398157" cy="23981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43718" y="7104221"/>
            <a:ext cx="1998464" cy="249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Rating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559475" y="7533799"/>
            <a:ext cx="13511451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dominates revenue at $104K, followed by Accessories ($74K), Footwear ($36K), and Outerwear ($19K). Revenue peaks in Fall and Winter seasons.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181" y="538163"/>
            <a:ext cx="6405086" cy="60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Recommendations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3181" y="1538526"/>
            <a:ext cx="6534388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944" y="1741289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036" y="1902381"/>
            <a:ext cx="263485" cy="2634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944" y="2522101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Discounts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85944" y="2944178"/>
            <a:ext cx="6128861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blanket discounts with strategic offers to protect margins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12712" y="1538526"/>
            <a:ext cx="6534507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15476" y="1741289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6567" y="1902381"/>
            <a:ext cx="263485" cy="2634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5476" y="2522101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Retention Focus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15476" y="2944178"/>
            <a:ext cx="612898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returning customers into loyal subscribers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3181" y="3654504"/>
            <a:ext cx="6534388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85944" y="3857268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036" y="4018359"/>
            <a:ext cx="263485" cy="2634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5944" y="4638080"/>
            <a:ext cx="2512100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Promote Top Products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85944" y="5060156"/>
            <a:ext cx="6128861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high-rated items to boost trust and sales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412712" y="3654504"/>
            <a:ext cx="6534507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15476" y="3857268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6567" y="4018359"/>
            <a:ext cx="263485" cy="2634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5476" y="4638080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Loyalty Programs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615476" y="5060156"/>
            <a:ext cx="612898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exclusive benefits like early access and special discounts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83181" y="5770483"/>
            <a:ext cx="6534388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85944" y="5973247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7036" y="6134338"/>
            <a:ext cx="263485" cy="26348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5944" y="6754058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Express Incentives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885944" y="7176135"/>
            <a:ext cx="6128861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Encourage premium orders with express shipping perks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7412712" y="5770483"/>
            <a:ext cx="6534507" cy="1920835"/>
          </a:xfrm>
          <a:prstGeom prst="roundRect">
            <a:avLst>
              <a:gd name="adj" fmla="val 42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615476" y="5973247"/>
            <a:ext cx="585668" cy="585668"/>
          </a:xfrm>
          <a:prstGeom prst="roundRect">
            <a:avLst>
              <a:gd name="adj" fmla="val 15611380"/>
            </a:avLst>
          </a:prstGeom>
          <a:solidFill>
            <a:srgbClr val="1B1B2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6567" y="6134338"/>
            <a:ext cx="263485" cy="26348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15476" y="6754058"/>
            <a:ext cx="2440305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Updates</a:t>
            </a:r>
            <a:endParaRPr lang="en-US" sz="1900" dirty="0"/>
          </a:p>
        </p:txBody>
      </p:sp>
      <p:sp>
        <p:nvSpPr>
          <p:cNvPr id="32" name="Text 24"/>
          <p:cNvSpPr/>
          <p:nvPr/>
        </p:nvSpPr>
        <p:spPr>
          <a:xfrm>
            <a:off x="7615476" y="7176135"/>
            <a:ext cx="612898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monitor behavior and refine strategies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2025-12-30T11:55:33Z</dcterms:created>
  <dcterms:modified xsi:type="dcterms:W3CDTF">2025-12-30T11:55:33Z</dcterms:modified>
</cp:coreProperties>
</file>